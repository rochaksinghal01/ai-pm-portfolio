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81328"/>
            <a:ext cx="978408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0">
                <a:solidFill>
                  <a:srgbClr val="CBD5E1"/>
                </a:solidFill>
                <a:latin typeface="Aptos"/>
              </a:rPr>
              <a:t>AI-powered account research, ingredient qualification and safe outreach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14600"/>
            <a:ext cx="2331720" cy="38404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606040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TECHNICAL INTERVIEW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30368"/>
            <a:ext cx="36576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Rochak Singhal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32704"/>
            <a:ext cx="8686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One company per run · evidence before judgment · humans approve outreach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PRODUCT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A decision system—not an email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64008" cy="1828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31546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Research is fragmented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3154680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Websites, PDFs, spreadsheets and contact tools make sales research slow and hard to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64008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581912"/>
            <a:ext cx="31546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Qualification comes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47672"/>
            <a:ext cx="3154680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The system decides whether an account deserves enrichment and outreach before spending credits or rep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64008" cy="18288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581912"/>
            <a:ext cx="31546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Control remains explicit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947672"/>
            <a:ext cx="3154680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AI proposes judgments. Code owns identity, formulas, thresholds, approval, sending and stop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03320"/>
            <a:ext cx="1101852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05656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059936"/>
            <a:ext cx="320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05656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4952" y="4069080"/>
            <a:ext cx="274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4105656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ptos"/>
              </a:rPr>
              <a:t>ingredient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4069080"/>
            <a:ext cx="274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4105656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ptos"/>
              </a:rPr>
              <a:t>committee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4069080"/>
            <a:ext cx="274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7296" y="4105656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ptos"/>
              </a:rPr>
              <a:t>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4069080"/>
            <a:ext cx="274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105656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ptos"/>
              </a:rPr>
              <a:t>approval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069080"/>
            <a:ext cx="274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105656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ptos"/>
              </a:rPr>
              <a:t>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4069080"/>
            <a:ext cx="274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2912" y="4105656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ptos"/>
              </a:rPr>
              <a:t>stop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57800"/>
            <a:ext cx="6583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One account may have many immutable research runs.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USER · JOB ·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Success is better prioritization—not more automated email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38328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64008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90472"/>
            <a:ext cx="30175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PRIMARY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56231"/>
            <a:ext cx="3017520" cy="9601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Aptos"/>
              </a:rPr>
              <a:t>Salesperson or business-development manager deciding where to spend research and outreach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87952" y="1325880"/>
            <a:ext cx="3657600" cy="160020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87952" y="1325880"/>
            <a:ext cx="64008" cy="1600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490472"/>
            <a:ext cx="32918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JOB TO BE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1856231"/>
            <a:ext cx="3291840" cy="9601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Aptos"/>
              </a:rPr>
              <a:t>Decide if an account is worth pursuing, show why, identify who matters, recommend the next action and know when to stop.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325880"/>
            <a:ext cx="3547872" cy="160020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1325880"/>
            <a:ext cx="64008" cy="16002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90472"/>
            <a:ext cx="31821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NORTH-STAR CANDIDATE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56231"/>
            <a:ext cx="3182112" cy="9601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Aptos"/>
              </a:rPr>
              <a:t>Sales-accepted qualified accounts per research hour—not email volume.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310128"/>
            <a:ext cx="2743200" cy="53035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429000"/>
            <a:ext cx="2596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PILOT OUTCOME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3310128"/>
            <a:ext cx="5669280" cy="53035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2" y="3429000"/>
            <a:ext cx="552297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MEASURE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840480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931920"/>
            <a:ext cx="2596896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ptos"/>
              </a:rPr>
              <a:t>Speed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840480"/>
            <a:ext cx="5669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0712" y="3931920"/>
            <a:ext cx="5522976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ptos"/>
              </a:rPr>
              <a:t>Median research minutes per reviewed account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370832"/>
            <a:ext cx="27432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462272"/>
            <a:ext cx="2596896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Precision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4370832"/>
            <a:ext cx="566928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4462272"/>
            <a:ext cx="5522976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% qualified accounts accepted by sales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901183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992623"/>
            <a:ext cx="2596896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Trust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4901183"/>
            <a:ext cx="56692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0712" y="4992623"/>
            <a:ext cx="5522976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Citation coverage + unsupported-claim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431536"/>
            <a:ext cx="27432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5522975"/>
            <a:ext cx="2596896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Economics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5431536"/>
            <a:ext cx="566928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0712" y="5522975"/>
            <a:ext cx="5522976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Cost per completed and accepted account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53728" y="3310128"/>
            <a:ext cx="2359152" cy="265176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53728" y="3310128"/>
            <a:ext cx="64008" cy="2651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40" y="3474720"/>
            <a:ext cx="19933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Aptos"/>
              </a:rPr>
              <a:t>GUARDRAILS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1993392" cy="2011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30" b="0">
                <a:solidFill>
                  <a:srgbClr val="475569"/>
                </a:solidFill>
                <a:latin typeface="Aptos"/>
              </a:rPr>
              <a:t>Zero unintended recipients</a:t>
            </a:r>
            <a:br/>
            <a:br/>
            <a:r>
              <a:rPr sz="1130" b="0">
                <a:solidFill>
                  <a:srgbClr val="475569"/>
                </a:solidFill>
                <a:latin typeface="Aptos"/>
              </a:rPr>
              <a:t>Zero unsupported golden-case claims</a:t>
            </a:r>
            <a:br/>
            <a:br/>
            <a:r>
              <a:rPr sz="1130" b="0">
                <a:solidFill>
                  <a:srgbClr val="475569"/>
                </a:solidFill>
                <a:latin typeface="Aptos"/>
              </a:rPr>
              <a:t>100% stop/suppression tests</a:t>
            </a:r>
            <a:br/>
            <a:br/>
            <a:r>
              <a:rPr sz="1130" b="0">
                <a:solidFill>
                  <a:srgbClr val="475569"/>
                </a:solidFill>
                <a:latin typeface="Aptos"/>
              </a:rPr>
              <a:t>Human approval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06440"/>
            <a:ext cx="82296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ptos"/>
              </a:rPr>
              <a:t>Baseline targets with sales in a controlled pilot; do not invent impact numbers in advance.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Assumptions made vs. questions sales must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1828800" cy="7132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72184"/>
            <a:ext cx="16824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353312"/>
            <a:ext cx="3291840" cy="7132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96312" y="1472184"/>
            <a:ext cx="31455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DEMO ASSUMPTION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1353312"/>
            <a:ext cx="5897880" cy="7132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88152" y="1472184"/>
            <a:ext cx="575157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PRODUCTION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66543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57984"/>
            <a:ext cx="168249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ICP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066543"/>
            <a:ext cx="3291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157984"/>
            <a:ext cx="31455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Prepared-food manufacturers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2066543"/>
            <a:ext cx="5897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2157984"/>
            <a:ext cx="575157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What makes an account unquestionably valuable?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779776"/>
            <a:ext cx="1828800" cy="71323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871216"/>
            <a:ext cx="168249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Catalogue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2779776"/>
            <a:ext cx="3291840" cy="71323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6312" y="2871216"/>
            <a:ext cx="31455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6 synthetic SKUs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2779776"/>
            <a:ext cx="5897880" cy="71323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2871216"/>
            <a:ext cx="575157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Which SKUs, capacity, MOQ and claims are approved?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493008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84448"/>
            <a:ext cx="168249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Demand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3493008"/>
            <a:ext cx="3291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96312" y="3584448"/>
            <a:ext cx="31455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Meals × share × kg/meal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3493008"/>
            <a:ext cx="5897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88152" y="3584448"/>
            <a:ext cx="575157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What uncertainty and volume floor are acceptable?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206240"/>
            <a:ext cx="1828800" cy="71323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297679"/>
            <a:ext cx="168249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Committee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4206240"/>
            <a:ext cx="3291840" cy="71323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96312" y="4297679"/>
            <a:ext cx="31455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Procurement, NPD, 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4206240"/>
            <a:ext cx="5897880" cy="71323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152" y="4297679"/>
            <a:ext cx="575157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Who champions, approves, buys and blocks?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91947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5010912"/>
            <a:ext cx="168249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Outreach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4919472"/>
            <a:ext cx="3291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96312" y="5010912"/>
            <a:ext cx="314553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Days 0 / 3 / 7 / 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4919472"/>
            <a:ext cx="5897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88152" y="5010912"/>
            <a:ext cx="575157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Which CTA, proof and stop conditions are approved?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960120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The product is configurable only after sales policy is explicit and versioned.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RAW DOMAIN TO COMPLETED DATABASE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Q1 · Architecture walkthrough</a:t>
            </a:r>
          </a:p>
        </p:txBody>
      </p:sp>
      <p:pic>
        <p:nvPicPr>
          <p:cNvPr id="4" name="Picture 3" descr="architecture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10185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63056"/>
            <a:ext cx="493776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Architecture source: docs/architecture-clean.svg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Eight steps from input to an auditable 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52852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1444751"/>
            <a:ext cx="512064" cy="512064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35607"/>
            <a:ext cx="1188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Accept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28216"/>
            <a:ext cx="4160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Edge Function returns account_id + run_id.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2852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1444751"/>
            <a:ext cx="512064" cy="512064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91056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435607"/>
            <a:ext cx="1188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Canonicalize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28216"/>
            <a:ext cx="4160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WF01 validates domain and deduplicates.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96312"/>
            <a:ext cx="52852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" y="2660904"/>
            <a:ext cx="512064" cy="512064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07208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51760"/>
            <a:ext cx="1188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Collect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44368"/>
            <a:ext cx="4160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WF02 crawls bounded web/PDF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496312"/>
            <a:ext cx="52852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91072" y="2660904"/>
            <a:ext cx="512064" cy="512064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807208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651760"/>
            <a:ext cx="1188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Interpret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944368"/>
            <a:ext cx="4160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Agent extracts dishes, scale, pains and matches.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12464"/>
            <a:ext cx="52852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3877056"/>
            <a:ext cx="512064" cy="51206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23360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867912"/>
            <a:ext cx="1188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Calculate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160520"/>
            <a:ext cx="4160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Code computes ranges, risk and fit tier.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712464"/>
            <a:ext cx="52852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91072" y="3877056"/>
            <a:ext cx="512064" cy="51206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023360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867912"/>
            <a:ext cx="1188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Prioritize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160520"/>
            <a:ext cx="4160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WF04 ranks 3–5 contacts; enrichs top 1–2.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928616"/>
            <a:ext cx="52852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8952" y="5093208"/>
            <a:ext cx="512064" cy="51206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23951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084064"/>
            <a:ext cx="1188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Approve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376672"/>
            <a:ext cx="4160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WF05 drafts; human approves; safe inbox wins.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928616"/>
            <a:ext cx="528523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91072" y="5093208"/>
            <a:ext cx="512064" cy="51206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239512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084064"/>
            <a:ext cx="1188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React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376672"/>
            <a:ext cx="4160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WF06 records events and stops the organization.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AGENT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AI interprets; deterministic controls decide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212080" cy="443484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64008" cy="44348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36192"/>
            <a:ext cx="48463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ptos"/>
              </a:rPr>
              <a:t>AI is used for ambiguity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01952"/>
            <a:ext cx="4846320" cy="37947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• Menu and catalogue language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Observed vs inferred vs hypothesis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Ingredient synonym and product relevance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Job-title and persona relevance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Persona-specific message framing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Bounded reply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71600"/>
            <a:ext cx="5212080" cy="443484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1371600"/>
            <a:ext cx="64008" cy="44348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536192"/>
            <a:ext cx="48463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Aptos"/>
              </a:rPr>
              <a:t>Code is used for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901952"/>
            <a:ext cx="4846320" cy="379475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• Domain identity and deduplication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Source-key and catalogue-ID validation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Quantity arithmetic and score thresholds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Approval, scheduling and recipient override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Suppression, idempotency and state</a:t>
            </a:r>
            <a:br/>
            <a:br/>
            <a:r>
              <a:rPr sz="1500" b="0">
                <a:solidFill>
                  <a:srgbClr val="475569"/>
                </a:solidFill>
                <a:latin typeface="Aptos"/>
              </a:rPr>
              <a:t>• Account-level stop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REUSABLE PROMPT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Q2 · Prompt engineering: constrain the decision surface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627631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92807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20370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one bounded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2" y="150876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627631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1892807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20370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business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8344" y="150876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627631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892807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20370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account +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50876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627631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1892807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220370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known source keys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2328" y="150876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1627631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344" y="1892807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PROCEDURE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0344" y="220370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ordered reasoning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92608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304495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310128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62102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mandatory lookups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16352" y="292608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4368" y="304495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3310128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GUARDRAILS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362102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never invent/act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38344" y="292608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304495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3310128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62102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typed 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0336" y="292608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88352" y="304495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8352" y="3310128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EXAMPLES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362102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supported + unknown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82328" y="2926080"/>
            <a:ext cx="1993392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10344" y="304495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0344" y="3310128"/>
            <a:ext cx="17373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SELF-CHECK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0344" y="3621024"/>
            <a:ext cx="1737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citations + nulls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4663440"/>
            <a:ext cx="11018520" cy="941832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" y="4882896"/>
            <a:ext cx="14173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Aptos"/>
              </a:rPr>
              <a:t>Key separation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40280" y="4855464"/>
            <a:ext cx="8915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The model proposes evidence-backed inputs. The workflow calculates volume, score and tier.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QUALITY × LATENCY ×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Model selection is a routing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965960" cy="603504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44752"/>
            <a:ext cx="181965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325880"/>
            <a:ext cx="2880360" cy="603504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1444752"/>
            <a:ext cx="273405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DEFAULT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79" y="1325880"/>
            <a:ext cx="6172200" cy="603504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13831" y="1444752"/>
            <a:ext cx="6025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29384"/>
            <a:ext cx="19659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20824"/>
            <a:ext cx="18196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ptos"/>
              </a:rPr>
              <a:t>Retrieval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29384"/>
            <a:ext cx="2880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020824"/>
            <a:ext cx="27340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ptos"/>
              </a:rPr>
              <a:t>Firecrawl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79" y="1929384"/>
            <a:ext cx="61722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13831" y="2020824"/>
            <a:ext cx="60258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ptos"/>
              </a:rPr>
              <a:t>Preserve URLs/passages before interpretation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532888"/>
            <a:ext cx="196596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624328"/>
            <a:ext cx="18196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Research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532888"/>
            <a:ext cx="288036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624328"/>
            <a:ext cx="27340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GPT-5.6 Terra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79" y="2532888"/>
            <a:ext cx="617220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1" y="2624328"/>
            <a:ext cx="60258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Balanced multi-source reasoning +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136391"/>
            <a:ext cx="19659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27832"/>
            <a:ext cx="18196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Committee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3136391"/>
            <a:ext cx="2880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3472" y="3227832"/>
            <a:ext cx="27340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GPT-5.6 Terra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79" y="3136391"/>
            <a:ext cx="61722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3831" y="3227832"/>
            <a:ext cx="60258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Title/organization reasoning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739896"/>
            <a:ext cx="196596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831335"/>
            <a:ext cx="18196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Outreach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739896"/>
            <a:ext cx="288036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3472" y="3831335"/>
            <a:ext cx="27340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GPT-5.6 Luna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79" y="3739896"/>
            <a:ext cx="617220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13831" y="3831335"/>
            <a:ext cx="60258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Bounded, high-volume copy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343400"/>
            <a:ext cx="19659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434840"/>
            <a:ext cx="18196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Reply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4343400"/>
            <a:ext cx="2880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33472" y="4434840"/>
            <a:ext cx="27340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GPT-5.6 Luna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79" y="4343400"/>
            <a:ext cx="61722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1" y="4434840"/>
            <a:ext cx="60258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Narrow classification taxonomy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946904"/>
            <a:ext cx="196596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5038344"/>
            <a:ext cx="18196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Judge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4946904"/>
            <a:ext cx="288036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33472" y="5038344"/>
            <a:ext cx="27340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Gemini 3.6 Flash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79" y="4946904"/>
            <a:ext cx="617220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3831" y="5038344"/>
            <a:ext cx="60258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Independent provider; fast structured output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550408"/>
            <a:ext cx="19659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641848"/>
            <a:ext cx="18196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Escalation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5550408"/>
            <a:ext cx="2880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33472" y="5641848"/>
            <a:ext cx="27340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GPT-5.6 Sol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79" y="5550408"/>
            <a:ext cx="61722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3831" y="5641848"/>
            <a:ext cx="60258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Hard cases only; human follows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897880"/>
            <a:ext cx="105156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Promote a replacement only when golden evaluations improve without breaking latency/cost and safety gates.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6537960"/>
            <a:ext cx="71323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OpenAI model docs · Gemini model/structured-output docs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STRUCTURED PARSER → OBJECTIVE METRICS → INDEPENDENT 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Evaluations are release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64008" cy="1874519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27632"/>
            <a:ext cx="30632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1 ·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3063240" cy="12344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Strict schema catches missing fields, wrong types and malformed 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463040"/>
            <a:ext cx="64008" cy="1874519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627632"/>
            <a:ext cx="30632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2 · Hard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993392"/>
            <a:ext cx="3063240" cy="12344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Citation coverage, allowed IDs, tier/persona agreement, four touches and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64008" cy="1874519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627632"/>
            <a:ext cx="30632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3 · Semantic judge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1993392"/>
            <a:ext cx="3063240" cy="12344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Gemini evaluates support and relevance but cannot bypass a hard failure.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13632"/>
            <a:ext cx="91440" cy="914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840480"/>
            <a:ext cx="4736592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99% valid structured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89120"/>
            <a:ext cx="91440" cy="914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315968"/>
            <a:ext cx="4736592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95% citation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64608"/>
            <a:ext cx="91440" cy="914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791456"/>
            <a:ext cx="4736592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0 unsupported claims on golden cases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40096"/>
            <a:ext cx="91440" cy="914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5266944"/>
            <a:ext cx="4736592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100% outreach compliance and stop-rule tests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840480"/>
            <a:ext cx="5212080" cy="15087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3840480"/>
            <a:ext cx="64008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005072"/>
            <a:ext cx="48463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ptos"/>
              </a:rPr>
              <a:t>Two execution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370832"/>
            <a:ext cx="484632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Aptos"/>
              </a:rPr>
              <a:t>Production calls providers and persists state. Evaluation uses frozen fixtures, avoiding Firecrawl/Apollo spend and CRM pollution.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SUPABASE ROWS · 10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Q3 · Live data: the downstream control loop is proven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56032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64008" cy="1188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90472"/>
            <a:ext cx="21945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3 synthetic contacts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56231"/>
            <a:ext cx="219456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Ranked 90 / 82 / 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25880"/>
            <a:ext cx="2560320" cy="118872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25880"/>
            <a:ext cx="64008" cy="11887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490472"/>
            <a:ext cx="21945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  <a:latin typeface="Aptos"/>
              </a:rPr>
              <a:t>4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856231"/>
            <a:ext cx="219456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1 sequence persisted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2560320" cy="118872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64008" cy="118872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90472"/>
            <a:ext cx="21945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  <a:latin typeface="Aptos"/>
              </a:rPr>
              <a:t>2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56231"/>
            <a:ext cx="219456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CTA click + Gmail reply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25880"/>
            <a:ext cx="2560320" cy="118872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325880"/>
            <a:ext cx="64008" cy="11887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1490472"/>
            <a:ext cx="21945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  <a:latin typeface="Aptos"/>
              </a:rPr>
              <a:t>Stop applied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1856231"/>
            <a:ext cx="219456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Sequence + peers paused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880360"/>
            <a:ext cx="2331720" cy="603504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2999232"/>
            <a:ext cx="2185415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CONTACT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2880360"/>
            <a:ext cx="3657600" cy="603504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2999232"/>
            <a:ext cx="35112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9" y="2880360"/>
            <a:ext cx="1280160" cy="603504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1" y="2999232"/>
            <a:ext cx="113385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880360"/>
            <a:ext cx="1828800" cy="603504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2999232"/>
            <a:ext cx="16824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483864"/>
            <a:ext cx="2331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575304"/>
            <a:ext cx="2185415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Jordan Lee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3483864"/>
            <a:ext cx="3657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3575304"/>
            <a:ext cx="35112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Procurement Director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79" y="3483864"/>
            <a:ext cx="12801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1" y="3575304"/>
            <a:ext cx="11338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90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483864"/>
            <a:ext cx="1828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36992" y="3575304"/>
            <a:ext cx="16824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replied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087368"/>
            <a:ext cx="233172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178807"/>
            <a:ext cx="2185415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Taylor Morgan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79" y="4087368"/>
            <a:ext cx="365760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9232" y="4178807"/>
            <a:ext cx="35112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Head of Culinary &amp; NPD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79" y="4087368"/>
            <a:ext cx="128016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1" y="4178807"/>
            <a:ext cx="11338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4087368"/>
            <a:ext cx="1828800" cy="603504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36992" y="4178807"/>
            <a:ext cx="16824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paused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4690872"/>
            <a:ext cx="2331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782312"/>
            <a:ext cx="2185415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Alex Chen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79" y="4690872"/>
            <a:ext cx="3657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99232" y="4782312"/>
            <a:ext cx="35112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Operations Manager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79" y="4690872"/>
            <a:ext cx="12801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56831" y="4782312"/>
            <a:ext cx="113385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74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4690872"/>
            <a:ext cx="1828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36992" y="4782312"/>
            <a:ext cx="1682496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paused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21240" y="2880360"/>
            <a:ext cx="1691640" cy="2414016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21240" y="2880360"/>
            <a:ext cx="64008" cy="2414016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31552" y="3044952"/>
            <a:ext cx="1325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HONEST GAP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1552" y="3410712"/>
            <a:ext cx="1325880" cy="17739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Newest research run remains running; older run is failed_partial. Live evidence and ingredient rows are not yet complete.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715000"/>
            <a:ext cx="6400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ptos"/>
              </a:rPr>
              <a:t>Live demo: https://knoxx-insight-quest.lovable.app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LIVE PROOF VS. GOLDEN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What is accurate, actionable and still a hypothesis?</a:t>
            </a:r>
          </a:p>
        </p:txBody>
      </p:sp>
      <p:pic>
        <p:nvPicPr>
          <p:cNvPr id="4" name="Picture 3" descr="account-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9224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325880"/>
            <a:ext cx="4251960" cy="123444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1325880"/>
            <a:ext cx="64008" cy="12344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71232" y="1490472"/>
            <a:ext cx="3886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ACTIONABLE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2" y="1856231"/>
            <a:ext cx="38862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Account/run identity, ranked contacts, safe sequence, click/reply events and organization stop.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788920"/>
            <a:ext cx="4251960" cy="123444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2788920"/>
            <a:ext cx="64008" cy="12344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2" y="2953512"/>
            <a:ext cx="3886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USE WITH A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2" y="3319272"/>
            <a:ext cx="38862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Scale, dishes, ingredient overlap and quantity ranges when linked to retained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251960"/>
            <a:ext cx="4251960" cy="123444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4251960"/>
            <a:ext cx="64008" cy="12344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4416552"/>
            <a:ext cx="3886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SALES MUST 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2" y="4782312"/>
            <a:ext cx="38862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Service region, capacity, MOQ, margin, claims, recipe share and the real economic buyer.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88152"/>
            <a:ext cx="9601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The screenshot is a golden expected-output fixture, not live Firecrawl persistence proof.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BOTTLENECKS AND IMMEDIATE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Q4 · What breaks at 1,000 domains?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828800" cy="65836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44752"/>
            <a:ext cx="16824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325880"/>
            <a:ext cx="3246120" cy="65836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96312" y="1444752"/>
            <a:ext cx="3099815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FAILURE 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79" y="1325880"/>
            <a:ext cx="5943600" cy="65836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2431" y="1444752"/>
            <a:ext cx="57972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84248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75688"/>
            <a:ext cx="16824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ptos"/>
              </a:rPr>
              <a:t>Crawl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984248"/>
            <a:ext cx="3246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075688"/>
            <a:ext cx="3099815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ptos"/>
              </a:rPr>
              <a:t>429s + long webhooks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79" y="1984248"/>
            <a:ext cx="5943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1" y="2075688"/>
            <a:ext cx="57972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Aptos"/>
              </a:rPr>
              <a:t>Async jobs, Retry-After, page bounds, cache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642615"/>
            <a:ext cx="18288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34056"/>
            <a:ext cx="16824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2642615"/>
            <a:ext cx="324612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6312" y="2734056"/>
            <a:ext cx="3099815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Cost + bad JSON/claims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79" y="2642615"/>
            <a:ext cx="59436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1" y="2734056"/>
            <a:ext cx="57972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Bounded input, schema, repair once, escalate rarely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300984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392424"/>
            <a:ext cx="16824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Apollo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3300984"/>
            <a:ext cx="3246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96312" y="3392424"/>
            <a:ext cx="3099815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Credits + plan limits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79" y="3300984"/>
            <a:ext cx="5943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1" y="3392424"/>
            <a:ext cx="57972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Search first; enrich top 1–2; live quota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959352"/>
            <a:ext cx="18288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050791"/>
            <a:ext cx="16824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n8n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3959352"/>
            <a:ext cx="324612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96312" y="4050791"/>
            <a:ext cx="3099815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Bursts + long waits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79" y="3959352"/>
            <a:ext cx="59436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42431" y="4050791"/>
            <a:ext cx="57972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Queue mode, worker pools, provider backpressure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617720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709159"/>
            <a:ext cx="16824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Postgres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4617720"/>
            <a:ext cx="3246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96312" y="4709159"/>
            <a:ext cx="3099815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Duplicates + contention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79" y="4617720"/>
            <a:ext cx="5943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42431" y="4709159"/>
            <a:ext cx="57972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Idempotency, short transactions, indexes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5276088"/>
            <a:ext cx="18288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5367528"/>
            <a:ext cx="16824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Ops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23160" y="5276088"/>
            <a:ext cx="324612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96312" y="5367528"/>
            <a:ext cx="3099815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Stuck runs look green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79" y="5276088"/>
            <a:ext cx="594360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42431" y="5367528"/>
            <a:ext cx="579729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Checkpoints, traces, alerts, DLQ + replay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6537960"/>
            <a:ext cx="71323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Firecrawl errors/crawl · Apollo rate limits/credits · n8n queue mode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SCALE AND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Enterprise target: accept → queue → checkpoint → notify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99032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325880"/>
            <a:ext cx="642823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ptos"/>
              </a:rPr>
              <a:t>Return 202 + run_id in under one second; never wait for crawling in the user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9967"/>
            <a:ext cx="642823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ptos"/>
              </a:rPr>
              <a:t>Use durable jobs for retrieval, extraction, scoring, contacts and drafts—each with an idempotency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07208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34056"/>
            <a:ext cx="642823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ptos"/>
              </a:rPr>
              <a:t>Separate worker pools and rate budgets for Firecrawl, LLM and Apollo; retry transient failures, DLQ exhausted jobs.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11296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438144"/>
            <a:ext cx="642823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ptos"/>
              </a:rPr>
              <a:t>Cache evidence by content hash/freshness; reprocess only when evidence, catalogue or rule versions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15383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142231"/>
            <a:ext cx="642823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ptos"/>
              </a:rPr>
              <a:t>Measure cost per started, completed and qualified account—not an invented per-request promise.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325880"/>
            <a:ext cx="3657600" cy="1828800"/>
          </a:xfrm>
          <a:prstGeom prst="roundRect">
            <a:avLst/>
          </a:prstGeom>
          <a:solidFill>
            <a:srgbClr val="11182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325880"/>
            <a:ext cx="64008" cy="18288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490472"/>
            <a:ext cx="32918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ILLUSTRATIVE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1856231"/>
            <a:ext cx="3291840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1,000 / 480 minutes ≈ 2.1 jobs/min. At 3 worker-minutes/job: ≈ 6.3 average concurrency; provision ~10–15 slots for variance.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429000"/>
            <a:ext cx="3657600" cy="164592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429000"/>
            <a:ext cx="64008" cy="16459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3593592"/>
            <a:ext cx="32918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ptos"/>
              </a:rPr>
              <a:t>STRONGEST COST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3959352"/>
            <a:ext cx="329184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If 30% reuse fresh evidence, plan 700 full runs + 300 revalidations—not 1,000 full crawls.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CPO decision: fund a controlled pilot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90472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417320"/>
            <a:ext cx="729691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The product addresses account prioritization—not vanity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21408"/>
            <a:ext cx="729691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AI judgment is bounded by evidence, deterministic controls and human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98648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825496"/>
            <a:ext cx="729691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The downstream click/reply/organization-stop loop has live proof.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02736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529584"/>
            <a:ext cx="729691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Production is blocked on live crawl persistence, sales policy, RLS/load and compliance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06824"/>
            <a:ext cx="91440" cy="914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4233672"/>
            <a:ext cx="729691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Next: a 25-account assisted pilot measuring speed, precision, trust and cost per accepted account.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417320"/>
            <a:ext cx="301752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8200" y="1417320"/>
            <a:ext cx="64008" cy="1874519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581912"/>
            <a:ext cx="26517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PORTFOLIO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1947672"/>
            <a:ext cx="2651760" cy="12344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Architecture source</a:t>
            </a:r>
            <a:br/>
            <a:r>
              <a:rPr sz="1400" b="0">
                <a:solidFill>
                  <a:srgbClr val="475569"/>
                </a:solidFill>
                <a:latin typeface="Aptos"/>
              </a:rPr>
              <a:t>Gamma-ready deck</a:t>
            </a:r>
            <a:br/>
            <a:r>
              <a:rPr sz="1400" b="0">
                <a:solidFill>
                  <a:srgbClr val="475569"/>
                </a:solidFill>
                <a:latin typeface="Aptos"/>
              </a:rPr>
              <a:t>Lovable master prompt</a:t>
            </a:r>
            <a:br/>
            <a:r>
              <a:rPr sz="1400" b="0">
                <a:solidFill>
                  <a:srgbClr val="475569"/>
                </a:solidFill>
                <a:latin typeface="Aptos"/>
              </a:rPr>
              <a:t>Workflow + interview guide</a:t>
            </a:r>
            <a:br/>
            <a:r>
              <a:rPr sz="1400" b="0">
                <a:solidFill>
                  <a:srgbClr val="475569"/>
                </a:solidFill>
                <a:latin typeface="Aptos"/>
              </a:rPr>
              <a:t>Verification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160520"/>
            <a:ext cx="3017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CBD5E1"/>
                </a:solidFill>
                <a:latin typeface="Aptos"/>
              </a:rPr>
              <a:t>KNOXX OUTBOUND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9672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9731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